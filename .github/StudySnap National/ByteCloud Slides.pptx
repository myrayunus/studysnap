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anva Sans" panose="020B0604020202020204" charset="0"/>
      <p:regular r:id="rId7"/>
    </p:embeddedFont>
    <p:embeddedFont>
      <p:font typeface="Canva Sans Bold" panose="020B0604020202020204" charset="0"/>
      <p:regular r:id="rId8"/>
    </p:embeddedFont>
    <p:embeddedFont>
      <p:font typeface="Canva Sans Italics" panose="020B0604020202020204" charset="0"/>
      <p:regular r:id="rId9"/>
    </p:embeddedFont>
    <p:embeddedFont>
      <p:font typeface="Inter Bold" panose="020B0604020202020204" charset="0"/>
      <p:regular r:id="rId10"/>
    </p:embeddedFont>
    <p:embeddedFont>
      <p:font typeface="Inter Medium" panose="020B0604020202020204" charset="0"/>
      <p:regular r:id="rId11"/>
    </p:embeddedFont>
    <p:embeddedFont>
      <p:font typeface="Inter Semi-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994" y="579096"/>
            <a:ext cx="17067398" cy="10685972"/>
            <a:chOff x="0" y="0"/>
            <a:chExt cx="4495117" cy="28144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5117" cy="2814412"/>
            </a:xfrm>
            <a:custGeom>
              <a:avLst/>
              <a:gdLst/>
              <a:ahLst/>
              <a:cxnLst/>
              <a:rect l="l" t="t" r="r" b="b"/>
              <a:pathLst>
                <a:path w="4495117" h="2814412">
                  <a:moveTo>
                    <a:pt x="45361" y="0"/>
                  </a:moveTo>
                  <a:lnTo>
                    <a:pt x="4449756" y="0"/>
                  </a:lnTo>
                  <a:cubicBezTo>
                    <a:pt x="4461787" y="0"/>
                    <a:pt x="4473324" y="4779"/>
                    <a:pt x="4481831" y="13286"/>
                  </a:cubicBezTo>
                  <a:cubicBezTo>
                    <a:pt x="4490338" y="21793"/>
                    <a:pt x="4495117" y="33330"/>
                    <a:pt x="4495117" y="45361"/>
                  </a:cubicBezTo>
                  <a:lnTo>
                    <a:pt x="4495117" y="2769052"/>
                  </a:lnTo>
                  <a:cubicBezTo>
                    <a:pt x="4495117" y="2781082"/>
                    <a:pt x="4490338" y="2792620"/>
                    <a:pt x="4481831" y="2801127"/>
                  </a:cubicBezTo>
                  <a:cubicBezTo>
                    <a:pt x="4473324" y="2809633"/>
                    <a:pt x="4461787" y="2814412"/>
                    <a:pt x="4449756" y="2814412"/>
                  </a:cubicBezTo>
                  <a:lnTo>
                    <a:pt x="45361" y="2814412"/>
                  </a:lnTo>
                  <a:cubicBezTo>
                    <a:pt x="20309" y="2814412"/>
                    <a:pt x="0" y="2794103"/>
                    <a:pt x="0" y="2769052"/>
                  </a:cubicBezTo>
                  <a:lnTo>
                    <a:pt x="0" y="45361"/>
                  </a:lnTo>
                  <a:cubicBezTo>
                    <a:pt x="0" y="33330"/>
                    <a:pt x="4779" y="21793"/>
                    <a:pt x="13286" y="13286"/>
                  </a:cubicBezTo>
                  <a:cubicBezTo>
                    <a:pt x="21793" y="4779"/>
                    <a:pt x="33330" y="0"/>
                    <a:pt x="4536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70329A">
                      <a:alpha val="100000"/>
                    </a:srgbClr>
                  </a:gs>
                  <a:gs pos="100000">
                    <a:srgbClr val="FB88E7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95117" cy="28525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1719807" y="3594580"/>
            <a:ext cx="4364918" cy="4600212"/>
            <a:chOff x="0" y="0"/>
            <a:chExt cx="1149608" cy="12115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9608" cy="1211578"/>
            </a:xfrm>
            <a:custGeom>
              <a:avLst/>
              <a:gdLst/>
              <a:ahLst/>
              <a:cxnLst/>
              <a:rect l="l" t="t" r="r" b="b"/>
              <a:pathLst>
                <a:path w="1149608" h="1211578">
                  <a:moveTo>
                    <a:pt x="0" y="0"/>
                  </a:moveTo>
                  <a:lnTo>
                    <a:pt x="1149608" y="0"/>
                  </a:lnTo>
                  <a:lnTo>
                    <a:pt x="1149608" y="1211578"/>
                  </a:lnTo>
                  <a:lnTo>
                    <a:pt x="0" y="1211578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149608" cy="1268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96354" y="3518462"/>
            <a:ext cx="4105912" cy="7000921"/>
            <a:chOff x="0" y="0"/>
            <a:chExt cx="636113" cy="10846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6113" cy="1084626"/>
            </a:xfrm>
            <a:custGeom>
              <a:avLst/>
              <a:gdLst/>
              <a:ahLst/>
              <a:cxnLst/>
              <a:rect l="l" t="t" r="r" b="b"/>
              <a:pathLst>
                <a:path w="636113" h="1084626">
                  <a:moveTo>
                    <a:pt x="188555" y="0"/>
                  </a:moveTo>
                  <a:lnTo>
                    <a:pt x="447558" y="0"/>
                  </a:lnTo>
                  <a:cubicBezTo>
                    <a:pt x="497566" y="0"/>
                    <a:pt x="545526" y="19866"/>
                    <a:pt x="580887" y="55227"/>
                  </a:cubicBezTo>
                  <a:cubicBezTo>
                    <a:pt x="616248" y="90588"/>
                    <a:pt x="636113" y="138547"/>
                    <a:pt x="636113" y="188555"/>
                  </a:cubicBezTo>
                  <a:lnTo>
                    <a:pt x="636113" y="896070"/>
                  </a:lnTo>
                  <a:cubicBezTo>
                    <a:pt x="636113" y="946078"/>
                    <a:pt x="616248" y="994038"/>
                    <a:pt x="580887" y="1029399"/>
                  </a:cubicBezTo>
                  <a:cubicBezTo>
                    <a:pt x="545526" y="1064760"/>
                    <a:pt x="497566" y="1084626"/>
                    <a:pt x="447558" y="1084626"/>
                  </a:cubicBezTo>
                  <a:lnTo>
                    <a:pt x="188555" y="1084626"/>
                  </a:lnTo>
                  <a:cubicBezTo>
                    <a:pt x="138547" y="1084626"/>
                    <a:pt x="90588" y="1064760"/>
                    <a:pt x="55227" y="1029399"/>
                  </a:cubicBezTo>
                  <a:cubicBezTo>
                    <a:pt x="19866" y="994038"/>
                    <a:pt x="0" y="946078"/>
                    <a:pt x="0" y="896070"/>
                  </a:cubicBezTo>
                  <a:lnTo>
                    <a:pt x="0" y="188555"/>
                  </a:lnTo>
                  <a:cubicBezTo>
                    <a:pt x="0" y="138547"/>
                    <a:pt x="19866" y="90588"/>
                    <a:pt x="55227" y="55227"/>
                  </a:cubicBezTo>
                  <a:cubicBezTo>
                    <a:pt x="90588" y="19866"/>
                    <a:pt x="138547" y="0"/>
                    <a:pt x="188555" y="0"/>
                  </a:cubicBezTo>
                  <a:close/>
                </a:path>
              </a:pathLst>
            </a:custGeom>
            <a:blipFill>
              <a:blip r:embed="rId2"/>
              <a:stretch>
                <a:fillRect l="-11199" r="-11199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0" name="Group 10"/>
          <p:cNvGrpSpPr/>
          <p:nvPr/>
        </p:nvGrpSpPr>
        <p:grpSpPr>
          <a:xfrm rot="-5400000">
            <a:off x="9666851" y="6283969"/>
            <a:ext cx="4364918" cy="4105912"/>
            <a:chOff x="0" y="0"/>
            <a:chExt cx="1149608" cy="10813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9608" cy="1081392"/>
            </a:xfrm>
            <a:custGeom>
              <a:avLst/>
              <a:gdLst/>
              <a:ahLst/>
              <a:cxnLst/>
              <a:rect l="l" t="t" r="r" b="b"/>
              <a:pathLst>
                <a:path w="1149608" h="1081392">
                  <a:moveTo>
                    <a:pt x="0" y="0"/>
                  </a:moveTo>
                  <a:lnTo>
                    <a:pt x="1149608" y="0"/>
                  </a:lnTo>
                  <a:lnTo>
                    <a:pt x="1149608" y="1081392"/>
                  </a:lnTo>
                  <a:lnTo>
                    <a:pt x="0" y="108139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149608" cy="1138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4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480260" y="791527"/>
            <a:ext cx="4105912" cy="6803534"/>
            <a:chOff x="0" y="0"/>
            <a:chExt cx="636113" cy="105404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6113" cy="1054046"/>
            </a:xfrm>
            <a:custGeom>
              <a:avLst/>
              <a:gdLst/>
              <a:ahLst/>
              <a:cxnLst/>
              <a:rect l="l" t="t" r="r" b="b"/>
              <a:pathLst>
                <a:path w="636113" h="1054046">
                  <a:moveTo>
                    <a:pt x="188555" y="0"/>
                  </a:moveTo>
                  <a:lnTo>
                    <a:pt x="447558" y="0"/>
                  </a:lnTo>
                  <a:cubicBezTo>
                    <a:pt x="497566" y="0"/>
                    <a:pt x="545526" y="19866"/>
                    <a:pt x="580887" y="55227"/>
                  </a:cubicBezTo>
                  <a:cubicBezTo>
                    <a:pt x="616248" y="90588"/>
                    <a:pt x="636113" y="138547"/>
                    <a:pt x="636113" y="188555"/>
                  </a:cubicBezTo>
                  <a:lnTo>
                    <a:pt x="636113" y="865490"/>
                  </a:lnTo>
                  <a:cubicBezTo>
                    <a:pt x="636113" y="915498"/>
                    <a:pt x="616248" y="963458"/>
                    <a:pt x="580887" y="998819"/>
                  </a:cubicBezTo>
                  <a:cubicBezTo>
                    <a:pt x="545526" y="1034180"/>
                    <a:pt x="497566" y="1054046"/>
                    <a:pt x="447558" y="1054046"/>
                  </a:cubicBezTo>
                  <a:lnTo>
                    <a:pt x="188555" y="1054046"/>
                  </a:lnTo>
                  <a:cubicBezTo>
                    <a:pt x="138547" y="1054046"/>
                    <a:pt x="90588" y="1034180"/>
                    <a:pt x="55227" y="998819"/>
                  </a:cubicBezTo>
                  <a:cubicBezTo>
                    <a:pt x="19866" y="963458"/>
                    <a:pt x="0" y="915498"/>
                    <a:pt x="0" y="865490"/>
                  </a:cubicBezTo>
                  <a:lnTo>
                    <a:pt x="0" y="188555"/>
                  </a:lnTo>
                  <a:cubicBezTo>
                    <a:pt x="0" y="138547"/>
                    <a:pt x="19866" y="90588"/>
                    <a:pt x="55227" y="55227"/>
                  </a:cubicBezTo>
                  <a:cubicBezTo>
                    <a:pt x="90588" y="19866"/>
                    <a:pt x="138547" y="0"/>
                    <a:pt x="188555" y="0"/>
                  </a:cubicBezTo>
                  <a:close/>
                </a:path>
              </a:pathLst>
            </a:custGeom>
            <a:blipFill>
              <a:blip r:embed="rId3"/>
              <a:stretch>
                <a:fillRect l="-38383" r="-38383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449528" y="1027806"/>
            <a:ext cx="1459775" cy="1842321"/>
          </a:xfrm>
          <a:custGeom>
            <a:avLst/>
            <a:gdLst/>
            <a:ahLst/>
            <a:cxnLst/>
            <a:rect l="l" t="t" r="r" b="b"/>
            <a:pathLst>
              <a:path w="1459775" h="1842321">
                <a:moveTo>
                  <a:pt x="0" y="0"/>
                </a:moveTo>
                <a:lnTo>
                  <a:pt x="1459775" y="0"/>
                </a:lnTo>
                <a:lnTo>
                  <a:pt x="1459775" y="1842322"/>
                </a:lnTo>
                <a:lnTo>
                  <a:pt x="0" y="1842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679" r="-263302" b="-20512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6" name="TextBox 16"/>
          <p:cNvSpPr txBox="1"/>
          <p:nvPr/>
        </p:nvSpPr>
        <p:spPr>
          <a:xfrm>
            <a:off x="1709435" y="3675007"/>
            <a:ext cx="7241658" cy="5035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04"/>
              </a:lnSpc>
            </a:pPr>
            <a:r>
              <a:rPr lang="en-US" sz="15880" b="1">
                <a:gradFill>
                  <a:gsLst>
                    <a:gs pos="0">
                      <a:srgbClr val="70329A">
                        <a:alpha val="100000"/>
                      </a:srgbClr>
                    </a:gs>
                    <a:gs pos="100000">
                      <a:srgbClr val="FB88E7">
                        <a:alpha val="100000"/>
                      </a:srgbClr>
                    </a:gs>
                  </a:gsLst>
                  <a:lin ang="2700000"/>
                </a:gradFill>
                <a:latin typeface="Inter Bold"/>
                <a:ea typeface="Inter Bold"/>
                <a:cs typeface="Inter Bold"/>
                <a:sym typeface="Inter Bold"/>
              </a:rPr>
              <a:t>STUDYSNAP </a:t>
            </a:r>
          </a:p>
          <a:p>
            <a:pPr algn="ctr">
              <a:lnSpc>
                <a:spcPts val="12704"/>
              </a:lnSpc>
            </a:pPr>
            <a:endParaRPr lang="en-US" sz="15880" b="1">
              <a:gradFill>
                <a:gsLst>
                  <a:gs pos="0">
                    <a:srgbClr val="70329A">
                      <a:alpha val="100000"/>
                    </a:srgbClr>
                  </a:gs>
                  <a:gs pos="100000">
                    <a:srgbClr val="FB88E7">
                      <a:alpha val="100000"/>
                    </a:srgbClr>
                  </a:gs>
                </a:gsLst>
                <a:lin ang="2700000"/>
              </a:gra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49528" y="9191625"/>
            <a:ext cx="7298368" cy="60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1"/>
              </a:lnSpc>
              <a:spcBef>
                <a:spcPct val="0"/>
              </a:spcBef>
            </a:pPr>
            <a:r>
              <a:rPr lang="en-US" sz="3594" i="1" spc="-147">
                <a:gradFill>
                  <a:gsLst>
                    <a:gs pos="0">
                      <a:srgbClr val="70329A">
                        <a:alpha val="100000"/>
                      </a:srgbClr>
                    </a:gs>
                    <a:gs pos="100000">
                      <a:srgbClr val="FB88E7">
                        <a:alpha val="100000"/>
                      </a:srgbClr>
                    </a:gs>
                  </a:gsLst>
                  <a:lin ang="2700000"/>
                </a:gradFill>
                <a:latin typeface="Canva Sans Italics"/>
                <a:ea typeface="Canva Sans Italics"/>
                <a:cs typeface="Canva Sans Italics"/>
                <a:sym typeface="Canva Sans Italics"/>
              </a:rPr>
              <a:t>from overwhelmed to exam-ready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26776" y="1381125"/>
            <a:ext cx="5248606" cy="596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4"/>
              </a:lnSpc>
              <a:spcBef>
                <a:spcPct val="0"/>
              </a:spcBef>
            </a:pPr>
            <a:r>
              <a:rPr lang="en-US" sz="3517" b="1" spc="-144">
                <a:gradFill>
                  <a:gsLst>
                    <a:gs pos="0">
                      <a:srgbClr val="70329A">
                        <a:alpha val="100000"/>
                      </a:srgbClr>
                    </a:gs>
                    <a:gs pos="100000">
                      <a:srgbClr val="FB88E7">
                        <a:alpha val="100000"/>
                      </a:srgbClr>
                    </a:gs>
                  </a:gsLst>
                  <a:lin ang="27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Theme: Smart Education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05961" y="7263498"/>
            <a:ext cx="5248606" cy="685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4"/>
              </a:lnSpc>
              <a:spcBef>
                <a:spcPct val="0"/>
              </a:spcBef>
            </a:pPr>
            <a:r>
              <a:rPr lang="en-US" sz="4117" spc="-168">
                <a:gradFill>
                  <a:gsLst>
                    <a:gs pos="0">
                      <a:srgbClr val="70329A">
                        <a:alpha val="100000"/>
                      </a:srgbClr>
                    </a:gs>
                    <a:gs pos="100000">
                      <a:srgbClr val="FB88E7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By: ByteCloud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7930248"/>
            <a:ext cx="7241658" cy="1816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04"/>
              </a:lnSpc>
            </a:pPr>
            <a:r>
              <a:rPr lang="en-US" sz="15880" b="1">
                <a:gradFill>
                  <a:gsLst>
                    <a:gs pos="0">
                      <a:srgbClr val="70329A">
                        <a:alpha val="100000"/>
                      </a:srgbClr>
                    </a:gs>
                    <a:gs pos="100000">
                      <a:srgbClr val="FB88E7">
                        <a:alpha val="100000"/>
                      </a:srgbClr>
                    </a:gs>
                  </a:gsLst>
                  <a:lin ang="2700000"/>
                </a:gradFill>
                <a:latin typeface="Inter Bold"/>
                <a:ea typeface="Inter Bold"/>
                <a:cs typeface="Inter Bold"/>
                <a:sym typeface="Inter Bold"/>
              </a:rPr>
              <a:t>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70329A">
                <a:alpha val="100000"/>
              </a:srgbClr>
            </a:gs>
            <a:gs pos="100000">
              <a:srgbClr val="FB88E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8532" y="2289296"/>
            <a:ext cx="7002110" cy="7483779"/>
            <a:chOff x="0" y="0"/>
            <a:chExt cx="1844177" cy="19710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44177" cy="1971036"/>
            </a:xfrm>
            <a:custGeom>
              <a:avLst/>
              <a:gdLst/>
              <a:ahLst/>
              <a:cxnLst/>
              <a:rect l="l" t="t" r="r" b="b"/>
              <a:pathLst>
                <a:path w="1844177" h="1971036">
                  <a:moveTo>
                    <a:pt x="56388" y="0"/>
                  </a:moveTo>
                  <a:lnTo>
                    <a:pt x="1787789" y="0"/>
                  </a:lnTo>
                  <a:cubicBezTo>
                    <a:pt x="1818931" y="0"/>
                    <a:pt x="1844177" y="25246"/>
                    <a:pt x="1844177" y="56388"/>
                  </a:cubicBezTo>
                  <a:lnTo>
                    <a:pt x="1844177" y="1914648"/>
                  </a:lnTo>
                  <a:cubicBezTo>
                    <a:pt x="1844177" y="1929603"/>
                    <a:pt x="1838236" y="1943946"/>
                    <a:pt x="1827661" y="1954521"/>
                  </a:cubicBezTo>
                  <a:cubicBezTo>
                    <a:pt x="1817086" y="1965096"/>
                    <a:pt x="1802744" y="1971036"/>
                    <a:pt x="1787789" y="1971036"/>
                  </a:cubicBezTo>
                  <a:lnTo>
                    <a:pt x="56388" y="1971036"/>
                  </a:lnTo>
                  <a:cubicBezTo>
                    <a:pt x="25246" y="1971036"/>
                    <a:pt x="0" y="1945791"/>
                    <a:pt x="0" y="1914648"/>
                  </a:cubicBezTo>
                  <a:lnTo>
                    <a:pt x="0" y="56388"/>
                  </a:lnTo>
                  <a:cubicBezTo>
                    <a:pt x="0" y="25246"/>
                    <a:pt x="25246" y="0"/>
                    <a:pt x="5638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844177" cy="1999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29612" y="2289296"/>
            <a:ext cx="8115300" cy="7587350"/>
            <a:chOff x="0" y="0"/>
            <a:chExt cx="2137363" cy="19983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7363" cy="1998314"/>
            </a:xfrm>
            <a:custGeom>
              <a:avLst/>
              <a:gdLst/>
              <a:ahLst/>
              <a:cxnLst/>
              <a:rect l="l" t="t" r="r" b="b"/>
              <a:pathLst>
                <a:path w="2137363" h="1998314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1949661"/>
                  </a:lnTo>
                  <a:cubicBezTo>
                    <a:pt x="2137363" y="1976531"/>
                    <a:pt x="2115580" y="1998314"/>
                    <a:pt x="2088710" y="1998314"/>
                  </a:cubicBezTo>
                  <a:lnTo>
                    <a:pt x="48654" y="1998314"/>
                  </a:lnTo>
                  <a:cubicBezTo>
                    <a:pt x="21783" y="1998314"/>
                    <a:pt x="0" y="1976531"/>
                    <a:pt x="0" y="1949661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37363" cy="2026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411741" y="3591946"/>
            <a:ext cx="7551041" cy="3972216"/>
          </a:xfrm>
          <a:custGeom>
            <a:avLst/>
            <a:gdLst/>
            <a:ahLst/>
            <a:cxnLst/>
            <a:rect l="l" t="t" r="r" b="b"/>
            <a:pathLst>
              <a:path w="7551041" h="3972216">
                <a:moveTo>
                  <a:pt x="0" y="0"/>
                </a:moveTo>
                <a:lnTo>
                  <a:pt x="7551042" y="0"/>
                </a:lnTo>
                <a:lnTo>
                  <a:pt x="7551042" y="3972216"/>
                </a:lnTo>
                <a:lnTo>
                  <a:pt x="0" y="3972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651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TextBox 9"/>
          <p:cNvSpPr txBox="1"/>
          <p:nvPr/>
        </p:nvSpPr>
        <p:spPr>
          <a:xfrm>
            <a:off x="728532" y="901896"/>
            <a:ext cx="8683210" cy="1036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7"/>
              </a:lnSpc>
            </a:pPr>
            <a:r>
              <a:rPr lang="en-US" sz="914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PROBLEM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965286" y="2957581"/>
            <a:ext cx="7201418" cy="634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80"/>
              </a:lnSpc>
              <a:spcBef>
                <a:spcPct val="0"/>
              </a:spcBef>
            </a:pPr>
            <a:r>
              <a:rPr lang="en-US" sz="6000" b="1" spc="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95523" y="7282958"/>
            <a:ext cx="7267260" cy="2967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  <a:spcBef>
                <a:spcPct val="0"/>
              </a:spcBef>
            </a:pPr>
            <a:r>
              <a:rPr lang="en-US" sz="275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o</a:t>
            </a:r>
            <a:r>
              <a:rPr lang="en-US" sz="275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ur poll of 20 classmates, 80% named </a:t>
            </a:r>
            <a:r>
              <a:rPr lang="en-US" sz="2759" b="1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“not knowing where to start” </a:t>
            </a:r>
            <a:r>
              <a:rPr lang="en-US" sz="275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their biggest study struggle - the top answer, above </a:t>
            </a:r>
            <a:r>
              <a:rPr lang="en-US" sz="2759" b="1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procrastination (15%) </a:t>
            </a:r>
            <a:r>
              <a:rPr lang="en-US" sz="275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</a:t>
            </a:r>
            <a:r>
              <a:rPr lang="en-US" sz="2759" b="1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staying focused (5%)</a:t>
            </a:r>
            <a:r>
              <a:rPr lang="en-US" sz="275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3863"/>
              </a:lnSpc>
              <a:spcBef>
                <a:spcPct val="0"/>
              </a:spcBef>
            </a:pPr>
            <a:endParaRPr lang="en-US" sz="2759" u="none" strike="noStrike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730641" y="2957581"/>
            <a:ext cx="7201418" cy="634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80"/>
              </a:lnSpc>
              <a:spcBef>
                <a:spcPct val="0"/>
              </a:spcBef>
            </a:pPr>
            <a:r>
              <a:rPr lang="en-US" sz="6000" b="1" spc="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Evidence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8616" y="4184442"/>
            <a:ext cx="6701941" cy="3542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272" lvl="1" indent="-313636" algn="l">
              <a:lnSpc>
                <a:spcPts val="4067"/>
              </a:lnSpc>
              <a:spcBef>
                <a:spcPct val="0"/>
              </a:spcBef>
              <a:buFont typeface="Arial"/>
              <a:buChar char="•"/>
            </a:pPr>
            <a:r>
              <a:rPr lang="en-US" sz="29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Meet A, a  2nd-year UM student: 14 weeks of slides, hundreds of pages, before finals.</a:t>
            </a:r>
          </a:p>
          <a:p>
            <a:pPr marL="627272" lvl="1" indent="-313636" algn="l">
              <a:lnSpc>
                <a:spcPts val="4067"/>
              </a:lnSpc>
              <a:spcBef>
                <a:spcPct val="0"/>
              </a:spcBef>
              <a:buFont typeface="Arial"/>
              <a:buChar char="•"/>
            </a:pPr>
            <a:r>
              <a:rPr lang="en-US" sz="29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Her first study hour goes to figuring out what matters — not learning.</a:t>
            </a:r>
          </a:p>
          <a:p>
            <a:pPr marL="627272" lvl="1" indent="-313636" algn="l">
              <a:lnSpc>
                <a:spcPts val="4067"/>
              </a:lnSpc>
              <a:spcBef>
                <a:spcPct val="0"/>
              </a:spcBef>
              <a:buFont typeface="Arial"/>
              <a:buChar char="•"/>
            </a:pPr>
            <a:r>
              <a:rPr lang="en-US" sz="29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easy way to test herself.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70329A">
                <a:alpha val="100000"/>
              </a:srgbClr>
            </a:gs>
            <a:gs pos="100000">
              <a:srgbClr val="FB88E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47395" y="2958361"/>
            <a:ext cx="6253164" cy="5841351"/>
            <a:chOff x="0" y="0"/>
            <a:chExt cx="1394172" cy="1302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4172" cy="1302357"/>
            </a:xfrm>
            <a:custGeom>
              <a:avLst/>
              <a:gdLst/>
              <a:ahLst/>
              <a:cxnLst/>
              <a:rect l="l" t="t" r="r" b="b"/>
              <a:pathLst>
                <a:path w="1394172" h="1302357">
                  <a:moveTo>
                    <a:pt x="9905" y="0"/>
                  </a:moveTo>
                  <a:lnTo>
                    <a:pt x="1384268" y="0"/>
                  </a:lnTo>
                  <a:cubicBezTo>
                    <a:pt x="1386895" y="0"/>
                    <a:pt x="1389414" y="1044"/>
                    <a:pt x="1391271" y="2901"/>
                  </a:cubicBezTo>
                  <a:cubicBezTo>
                    <a:pt x="1393129" y="4758"/>
                    <a:pt x="1394172" y="7278"/>
                    <a:pt x="1394172" y="9905"/>
                  </a:cubicBezTo>
                  <a:lnTo>
                    <a:pt x="1394172" y="1292452"/>
                  </a:lnTo>
                  <a:cubicBezTo>
                    <a:pt x="1394172" y="1295079"/>
                    <a:pt x="1393129" y="1297598"/>
                    <a:pt x="1391271" y="1299456"/>
                  </a:cubicBezTo>
                  <a:cubicBezTo>
                    <a:pt x="1389414" y="1301313"/>
                    <a:pt x="1386895" y="1302357"/>
                    <a:pt x="1384268" y="1302357"/>
                  </a:cubicBezTo>
                  <a:lnTo>
                    <a:pt x="9905" y="1302357"/>
                  </a:lnTo>
                  <a:cubicBezTo>
                    <a:pt x="7278" y="1302357"/>
                    <a:pt x="4758" y="1301313"/>
                    <a:pt x="2901" y="1299456"/>
                  </a:cubicBezTo>
                  <a:cubicBezTo>
                    <a:pt x="1044" y="1297598"/>
                    <a:pt x="0" y="1295079"/>
                    <a:pt x="0" y="1292452"/>
                  </a:cubicBezTo>
                  <a:lnTo>
                    <a:pt x="0" y="9905"/>
                  </a:lnTo>
                  <a:cubicBezTo>
                    <a:pt x="0" y="7278"/>
                    <a:pt x="1044" y="4758"/>
                    <a:pt x="2901" y="2901"/>
                  </a:cubicBezTo>
                  <a:cubicBezTo>
                    <a:pt x="4758" y="1044"/>
                    <a:pt x="7278" y="0"/>
                    <a:pt x="99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0329A">
                    <a:alpha val="100000"/>
                  </a:srgbClr>
                </a:gs>
                <a:gs pos="100000">
                  <a:srgbClr val="FB88E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523164" y="6922512"/>
            <a:ext cx="6944716" cy="2205363"/>
          </a:xfrm>
          <a:custGeom>
            <a:avLst/>
            <a:gdLst/>
            <a:ahLst/>
            <a:cxnLst/>
            <a:rect l="l" t="t" r="r" b="b"/>
            <a:pathLst>
              <a:path w="6944716" h="2205363">
                <a:moveTo>
                  <a:pt x="0" y="0"/>
                </a:moveTo>
                <a:lnTo>
                  <a:pt x="6944716" y="0"/>
                </a:lnTo>
                <a:lnTo>
                  <a:pt x="6944716" y="2205363"/>
                </a:lnTo>
                <a:lnTo>
                  <a:pt x="0" y="2205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2141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>
            <a:off x="9022568" y="9258300"/>
            <a:ext cx="7704010" cy="1040882"/>
          </a:xfrm>
          <a:custGeom>
            <a:avLst/>
            <a:gdLst/>
            <a:ahLst/>
            <a:cxnLst/>
            <a:rect l="l" t="t" r="r" b="b"/>
            <a:pathLst>
              <a:path w="7704010" h="1040882">
                <a:moveTo>
                  <a:pt x="0" y="0"/>
                </a:moveTo>
                <a:lnTo>
                  <a:pt x="7704009" y="0"/>
                </a:lnTo>
                <a:lnTo>
                  <a:pt x="7704009" y="1040882"/>
                </a:lnTo>
                <a:lnTo>
                  <a:pt x="0" y="1040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5" r="-2514" b="-205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Freeform 7"/>
          <p:cNvSpPr/>
          <p:nvPr/>
        </p:nvSpPr>
        <p:spPr>
          <a:xfrm>
            <a:off x="8382571" y="3796562"/>
            <a:ext cx="9578721" cy="2918708"/>
          </a:xfrm>
          <a:custGeom>
            <a:avLst/>
            <a:gdLst/>
            <a:ahLst/>
            <a:cxnLst/>
            <a:rect l="l" t="t" r="r" b="b"/>
            <a:pathLst>
              <a:path w="9578721" h="2918708">
                <a:moveTo>
                  <a:pt x="0" y="0"/>
                </a:moveTo>
                <a:lnTo>
                  <a:pt x="9578721" y="0"/>
                </a:lnTo>
                <a:lnTo>
                  <a:pt x="9578721" y="2918707"/>
                </a:lnTo>
                <a:lnTo>
                  <a:pt x="0" y="2918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7560" b="-21403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TextBox 8"/>
          <p:cNvSpPr txBox="1"/>
          <p:nvPr/>
        </p:nvSpPr>
        <p:spPr>
          <a:xfrm>
            <a:off x="1123950" y="895548"/>
            <a:ext cx="16040100" cy="123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037"/>
              </a:lnSpc>
            </a:pPr>
            <a:r>
              <a:rPr lang="en-US" sz="10041" b="1" spc="-461">
                <a:solidFill>
                  <a:srgbClr val="FBF6F1"/>
                </a:solidFill>
                <a:latin typeface="Inter Bold"/>
                <a:ea typeface="Inter Bold"/>
                <a:cs typeface="Inter Bold"/>
                <a:sym typeface="Inter Bold"/>
              </a:rPr>
              <a:t>SOLUTION, BUILT ON AWS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18291" y="2843851"/>
            <a:ext cx="5150450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950"/>
              </a:lnSpc>
            </a:pPr>
            <a:r>
              <a:rPr lang="en-US" sz="5500" b="1" spc="-253">
                <a:solidFill>
                  <a:srgbClr val="FBF6F1"/>
                </a:solidFill>
                <a:latin typeface="Inter Medium"/>
                <a:ea typeface="Inter Medium"/>
                <a:cs typeface="Inter Medium"/>
                <a:sym typeface="Inter Medium"/>
              </a:rPr>
              <a:t>Why it needs AI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7991" y="2910736"/>
            <a:ext cx="6253164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950"/>
              </a:lnSpc>
            </a:pPr>
            <a:r>
              <a:rPr lang="en-US" sz="5500" b="1" spc="-253">
                <a:solidFill>
                  <a:srgbClr val="FBF6F1"/>
                </a:solidFill>
                <a:latin typeface="Inter Medium"/>
                <a:ea typeface="Inter Medium"/>
                <a:cs typeface="Inter Medium"/>
                <a:sym typeface="Inter Medium"/>
              </a:rPr>
              <a:t>Built on AWS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31295" y="3811617"/>
            <a:ext cx="5789301" cy="575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396" lvl="1" indent="-274698" algn="just">
              <a:lnSpc>
                <a:spcPts val="3562"/>
              </a:lnSpc>
              <a:buFont typeface="Arial"/>
              <a:buChar char="•"/>
            </a:pPr>
            <a:r>
              <a:rPr lang="en-US" sz="2544" b="1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Every student's notes are different — only a language model can read your notes and decide what matters.</a:t>
            </a:r>
          </a:p>
          <a:p>
            <a:pPr marL="549396" lvl="1" indent="-274698" algn="just">
              <a:lnSpc>
                <a:spcPts val="3562"/>
              </a:lnSpc>
              <a:buFont typeface="Arial"/>
              <a:buChar char="•"/>
            </a:pPr>
            <a:r>
              <a:rPr lang="en-US" sz="2544" b="1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Today students juggle between ChatGPT, Quizlet, and highlighters.</a:t>
            </a:r>
          </a:p>
          <a:p>
            <a:pPr marL="549396" lvl="1" indent="-274698" algn="just">
              <a:lnSpc>
                <a:spcPts val="3562"/>
              </a:lnSpc>
              <a:buFont typeface="Arial"/>
              <a:buChar char="•"/>
            </a:pPr>
            <a:r>
              <a:rPr lang="en-US" sz="2544" b="1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StudySnap does what they can't: one upload → summary, flashcards, glossary, examples, difficulty tags, quiz, and a tutor chat — all from your material.</a:t>
            </a:r>
          </a:p>
          <a:p>
            <a:pPr algn="just">
              <a:lnSpc>
                <a:spcPts val="3562"/>
              </a:lnSpc>
              <a:spcBef>
                <a:spcPct val="0"/>
              </a:spcBef>
            </a:pPr>
            <a:endParaRPr lang="en-US" sz="2544" b="1">
              <a:solidFill>
                <a:srgbClr val="FBF6F1"/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12777" y="2265699"/>
            <a:ext cx="5729270" cy="6531792"/>
            <a:chOff x="0" y="0"/>
            <a:chExt cx="1394172" cy="1589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4172" cy="1589460"/>
            </a:xfrm>
            <a:custGeom>
              <a:avLst/>
              <a:gdLst/>
              <a:ahLst/>
              <a:cxnLst/>
              <a:rect l="l" t="t" r="r" b="b"/>
              <a:pathLst>
                <a:path w="1394172" h="1589460">
                  <a:moveTo>
                    <a:pt x="10810" y="0"/>
                  </a:moveTo>
                  <a:lnTo>
                    <a:pt x="1383362" y="0"/>
                  </a:lnTo>
                  <a:cubicBezTo>
                    <a:pt x="1389332" y="0"/>
                    <a:pt x="1394172" y="4840"/>
                    <a:pt x="1394172" y="10810"/>
                  </a:cubicBezTo>
                  <a:lnTo>
                    <a:pt x="1394172" y="1578649"/>
                  </a:lnTo>
                  <a:cubicBezTo>
                    <a:pt x="1394172" y="1584620"/>
                    <a:pt x="1389332" y="1589460"/>
                    <a:pt x="1383362" y="1589460"/>
                  </a:cubicBezTo>
                  <a:lnTo>
                    <a:pt x="10810" y="1589460"/>
                  </a:lnTo>
                  <a:cubicBezTo>
                    <a:pt x="4840" y="1589460"/>
                    <a:pt x="0" y="1584620"/>
                    <a:pt x="0" y="1578649"/>
                  </a:cubicBezTo>
                  <a:lnTo>
                    <a:pt x="0" y="10810"/>
                  </a:lnTo>
                  <a:cubicBezTo>
                    <a:pt x="0" y="4840"/>
                    <a:pt x="4840" y="0"/>
                    <a:pt x="1081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0329A">
                    <a:alpha val="100000"/>
                  </a:srgbClr>
                </a:gs>
                <a:gs pos="100000">
                  <a:srgbClr val="FB88E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94172" cy="1627560"/>
            </a:xfrm>
            <a:prstGeom prst="rect">
              <a:avLst/>
            </a:prstGeom>
          </p:spPr>
          <p:txBody>
            <a:bodyPr lIns="54982" tIns="54982" rIns="54982" bIns="54982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94043" y="2265699"/>
            <a:ext cx="5729270" cy="6531792"/>
            <a:chOff x="0" y="0"/>
            <a:chExt cx="1394172" cy="15894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4172" cy="1589460"/>
            </a:xfrm>
            <a:custGeom>
              <a:avLst/>
              <a:gdLst/>
              <a:ahLst/>
              <a:cxnLst/>
              <a:rect l="l" t="t" r="r" b="b"/>
              <a:pathLst>
                <a:path w="1394172" h="1589460">
                  <a:moveTo>
                    <a:pt x="10810" y="0"/>
                  </a:moveTo>
                  <a:lnTo>
                    <a:pt x="1383362" y="0"/>
                  </a:lnTo>
                  <a:cubicBezTo>
                    <a:pt x="1389332" y="0"/>
                    <a:pt x="1394172" y="4840"/>
                    <a:pt x="1394172" y="10810"/>
                  </a:cubicBezTo>
                  <a:lnTo>
                    <a:pt x="1394172" y="1578649"/>
                  </a:lnTo>
                  <a:cubicBezTo>
                    <a:pt x="1394172" y="1584620"/>
                    <a:pt x="1389332" y="1589460"/>
                    <a:pt x="1383362" y="1589460"/>
                  </a:cubicBezTo>
                  <a:lnTo>
                    <a:pt x="10810" y="1589460"/>
                  </a:lnTo>
                  <a:cubicBezTo>
                    <a:pt x="4840" y="1589460"/>
                    <a:pt x="0" y="1584620"/>
                    <a:pt x="0" y="1578649"/>
                  </a:cubicBezTo>
                  <a:lnTo>
                    <a:pt x="0" y="10810"/>
                  </a:lnTo>
                  <a:cubicBezTo>
                    <a:pt x="0" y="4840"/>
                    <a:pt x="4840" y="0"/>
                    <a:pt x="1081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0329A">
                    <a:alpha val="100000"/>
                  </a:srgbClr>
                </a:gs>
                <a:gs pos="100000">
                  <a:srgbClr val="FB88E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94172" cy="1627560"/>
            </a:xfrm>
            <a:prstGeom prst="rect">
              <a:avLst/>
            </a:prstGeom>
          </p:spPr>
          <p:txBody>
            <a:bodyPr lIns="54982" tIns="54982" rIns="54982" bIns="54982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31510" y="2265699"/>
            <a:ext cx="5729270" cy="6531792"/>
            <a:chOff x="0" y="0"/>
            <a:chExt cx="1394172" cy="15894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94172" cy="1589460"/>
            </a:xfrm>
            <a:custGeom>
              <a:avLst/>
              <a:gdLst/>
              <a:ahLst/>
              <a:cxnLst/>
              <a:rect l="l" t="t" r="r" b="b"/>
              <a:pathLst>
                <a:path w="1394172" h="1589460">
                  <a:moveTo>
                    <a:pt x="10810" y="0"/>
                  </a:moveTo>
                  <a:lnTo>
                    <a:pt x="1383362" y="0"/>
                  </a:lnTo>
                  <a:cubicBezTo>
                    <a:pt x="1389332" y="0"/>
                    <a:pt x="1394172" y="4840"/>
                    <a:pt x="1394172" y="10810"/>
                  </a:cubicBezTo>
                  <a:lnTo>
                    <a:pt x="1394172" y="1578649"/>
                  </a:lnTo>
                  <a:cubicBezTo>
                    <a:pt x="1394172" y="1584620"/>
                    <a:pt x="1389332" y="1589460"/>
                    <a:pt x="1383362" y="1589460"/>
                  </a:cubicBezTo>
                  <a:lnTo>
                    <a:pt x="10810" y="1589460"/>
                  </a:lnTo>
                  <a:cubicBezTo>
                    <a:pt x="4840" y="1589460"/>
                    <a:pt x="0" y="1584620"/>
                    <a:pt x="0" y="1578649"/>
                  </a:cubicBezTo>
                  <a:lnTo>
                    <a:pt x="0" y="10810"/>
                  </a:lnTo>
                  <a:cubicBezTo>
                    <a:pt x="0" y="4840"/>
                    <a:pt x="4840" y="0"/>
                    <a:pt x="1081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0329A">
                    <a:alpha val="100000"/>
                  </a:srgbClr>
                </a:gs>
                <a:gs pos="100000">
                  <a:srgbClr val="FB88E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94172" cy="1627560"/>
            </a:xfrm>
            <a:prstGeom prst="rect">
              <a:avLst/>
            </a:prstGeom>
          </p:spPr>
          <p:txBody>
            <a:bodyPr lIns="54982" tIns="54982" rIns="54982" bIns="54982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81936" y="2685345"/>
            <a:ext cx="3353483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500"/>
              </a:lnSpc>
            </a:pPr>
            <a:r>
              <a:rPr lang="en-US" sz="5000" b="1" spc="-230">
                <a:solidFill>
                  <a:srgbClr val="FBF6F1"/>
                </a:solidFill>
                <a:latin typeface="Inter Medium"/>
                <a:ea typeface="Inter Medium"/>
                <a:cs typeface="Inter Medium"/>
                <a:sym typeface="Inter Medium"/>
              </a:rPr>
              <a:t>01. Impact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37027" y="2685345"/>
            <a:ext cx="5012594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500"/>
              </a:lnSpc>
            </a:pPr>
            <a:r>
              <a:rPr lang="en-US" sz="5000" b="1" spc="-230">
                <a:solidFill>
                  <a:srgbClr val="FBF6F1"/>
                </a:solidFill>
                <a:latin typeface="Inter Medium"/>
                <a:ea typeface="Inter Medium"/>
                <a:cs typeface="Inter Medium"/>
                <a:sym typeface="Inter Medium"/>
              </a:rPr>
              <a:t>02. Who pilots it?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56396" y="2685345"/>
            <a:ext cx="5213946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500"/>
              </a:lnSpc>
            </a:pPr>
            <a:r>
              <a:rPr lang="en-US" sz="5000" b="1" spc="-230">
                <a:solidFill>
                  <a:srgbClr val="FBF6F1"/>
                </a:solidFill>
                <a:latin typeface="Inter Medium"/>
                <a:ea typeface="Inter Medium"/>
                <a:cs typeface="Inter Medium"/>
                <a:sym typeface="Inter Medium"/>
              </a:rPr>
              <a:t>03. How it grows?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5180" y="3684018"/>
            <a:ext cx="5177305" cy="483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 b="1" dirty="0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Full study pack in ~40 seconds.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 b="1" dirty="0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The hour spent </a:t>
            </a:r>
            <a:r>
              <a:rPr lang="en-US" sz="2700" b="1" dirty="0" err="1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organising</a:t>
            </a:r>
            <a:r>
              <a:rPr lang="en-US" sz="2700" b="1" dirty="0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</a:t>
            </a:r>
            <a:r>
              <a:rPr lang="en-US" sz="2700" b="1" dirty="0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Wingdings" panose="05000000000000000000" pitchFamily="2" charset="2"/>
              </a:rPr>
              <a:t></a:t>
            </a:r>
            <a:r>
              <a:rPr lang="en-US" sz="2700" b="1" dirty="0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 now spent learning.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 b="1" dirty="0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Est. ~12-15 hours saved per student per semester (≈1 hour/week × 14 weeks).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 b="1" dirty="0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Enters the exam having actually self-tested.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endParaRPr lang="en-US" sz="2700" b="1" dirty="0">
              <a:solidFill>
                <a:srgbClr val="FBF6F1"/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084478" y="3557910"/>
            <a:ext cx="5729269" cy="5321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82930" lvl="1" indent="-291465">
              <a:lnSpc>
                <a:spcPts val="3779"/>
              </a:lnSpc>
              <a:buFont typeface="Arial"/>
              <a:buChar char="•"/>
            </a:pPr>
            <a:r>
              <a:rPr lang="en-US" sz="2700" b="1" dirty="0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Works end to end today (you just saw it).</a:t>
            </a:r>
          </a:p>
          <a:p>
            <a:pPr marL="582930" lvl="1" indent="-291465">
              <a:lnSpc>
                <a:spcPts val="3779"/>
              </a:lnSpc>
              <a:buFont typeface="Arial"/>
              <a:buChar char="•"/>
            </a:pPr>
            <a:r>
              <a:rPr lang="en-US" sz="2700" b="1" dirty="0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First pilot: UM's Academic Strategic Planning Department (ASPD) - it owns academic strategy &amp; digital learning (</a:t>
            </a:r>
            <a:r>
              <a:rPr lang="en-US" sz="2700" b="1" dirty="0" err="1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SPeCTRUM</a:t>
            </a:r>
            <a:r>
              <a:rPr lang="en-US" sz="2700" b="1" dirty="0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) campus-wide.</a:t>
            </a:r>
          </a:p>
          <a:p>
            <a:pPr marL="582930" lvl="1" indent="-291465">
              <a:lnSpc>
                <a:spcPts val="3779"/>
              </a:lnSpc>
              <a:buFont typeface="Arial"/>
              <a:buChar char="•"/>
            </a:pPr>
            <a:r>
              <a:rPr lang="en-US" sz="2700" b="1" dirty="0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Fits how they already work: they hand out revision material - now they point to </a:t>
            </a:r>
            <a:r>
              <a:rPr lang="en-US" sz="2700" b="1" dirty="0" err="1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StudySnap</a:t>
            </a:r>
            <a:r>
              <a:rPr lang="en-US" sz="2700" b="1" dirty="0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.</a:t>
            </a:r>
          </a:p>
          <a:p>
            <a:pPr>
              <a:lnSpc>
                <a:spcPts val="3779"/>
              </a:lnSpc>
              <a:spcBef>
                <a:spcPct val="0"/>
              </a:spcBef>
            </a:pPr>
            <a:endParaRPr lang="en-US" sz="2700" b="1" dirty="0">
              <a:solidFill>
                <a:srgbClr val="FBF6F1"/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268200" y="3652802"/>
            <a:ext cx="5126754" cy="483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 b="1" dirty="0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Any course with notes: medicine, law, schools, corporate training.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 b="1" dirty="0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Serverless = pay per request.</a:t>
            </a:r>
          </a:p>
          <a:p>
            <a:pPr marL="582930" lvl="1" indent="-291465" algn="just">
              <a:lnSpc>
                <a:spcPts val="3779"/>
              </a:lnSpc>
              <a:buFont typeface="Arial"/>
              <a:buChar char="•"/>
            </a:pPr>
            <a:r>
              <a:rPr lang="en-US" sz="2700" b="1" dirty="0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~25-30 </a:t>
            </a:r>
            <a:r>
              <a:rPr lang="en-US" sz="2700" b="1" dirty="0" err="1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sen</a:t>
            </a:r>
            <a:r>
              <a:rPr lang="en-US" sz="2700" b="1" dirty="0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per study pack </a:t>
            </a:r>
            <a:r>
              <a:rPr lang="en-US" sz="2700" b="1" dirty="0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Wingdings" panose="05000000000000000000" pitchFamily="2" charset="2"/>
              </a:rPr>
              <a:t> </a:t>
            </a:r>
            <a:r>
              <a:rPr lang="en-US" sz="2700" b="1" dirty="0">
                <a:solidFill>
                  <a:srgbClr val="FBF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 class of 40 costs RM 10-12; pay only when it is used.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endParaRPr lang="en-US" sz="2700" b="1" dirty="0">
              <a:solidFill>
                <a:srgbClr val="FBF6F1"/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54446" y="1009658"/>
            <a:ext cx="17379108" cy="1063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7708"/>
              </a:lnSpc>
            </a:pPr>
            <a:r>
              <a:rPr lang="en-US" sz="8564" b="1" spc="-39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REAL IMPACT, READY TO GROW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994" y="579096"/>
            <a:ext cx="17067398" cy="10685972"/>
            <a:chOff x="0" y="0"/>
            <a:chExt cx="4495117" cy="28144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5117" cy="2814412"/>
            </a:xfrm>
            <a:custGeom>
              <a:avLst/>
              <a:gdLst/>
              <a:ahLst/>
              <a:cxnLst/>
              <a:rect l="l" t="t" r="r" b="b"/>
              <a:pathLst>
                <a:path w="4495117" h="2814412">
                  <a:moveTo>
                    <a:pt x="45361" y="0"/>
                  </a:moveTo>
                  <a:lnTo>
                    <a:pt x="4449756" y="0"/>
                  </a:lnTo>
                  <a:cubicBezTo>
                    <a:pt x="4461787" y="0"/>
                    <a:pt x="4473324" y="4779"/>
                    <a:pt x="4481831" y="13286"/>
                  </a:cubicBezTo>
                  <a:cubicBezTo>
                    <a:pt x="4490338" y="21793"/>
                    <a:pt x="4495117" y="33330"/>
                    <a:pt x="4495117" y="45361"/>
                  </a:cubicBezTo>
                  <a:lnTo>
                    <a:pt x="4495117" y="2769052"/>
                  </a:lnTo>
                  <a:cubicBezTo>
                    <a:pt x="4495117" y="2781082"/>
                    <a:pt x="4490338" y="2792620"/>
                    <a:pt x="4481831" y="2801127"/>
                  </a:cubicBezTo>
                  <a:cubicBezTo>
                    <a:pt x="4473324" y="2809633"/>
                    <a:pt x="4461787" y="2814412"/>
                    <a:pt x="4449756" y="2814412"/>
                  </a:cubicBezTo>
                  <a:lnTo>
                    <a:pt x="45361" y="2814412"/>
                  </a:lnTo>
                  <a:cubicBezTo>
                    <a:pt x="20309" y="2814412"/>
                    <a:pt x="0" y="2794103"/>
                    <a:pt x="0" y="2769052"/>
                  </a:cubicBezTo>
                  <a:lnTo>
                    <a:pt x="0" y="45361"/>
                  </a:lnTo>
                  <a:cubicBezTo>
                    <a:pt x="0" y="33330"/>
                    <a:pt x="4779" y="21793"/>
                    <a:pt x="13286" y="13286"/>
                  </a:cubicBezTo>
                  <a:cubicBezTo>
                    <a:pt x="21793" y="4779"/>
                    <a:pt x="33330" y="0"/>
                    <a:pt x="4536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70329A">
                      <a:alpha val="100000"/>
                    </a:srgbClr>
                  </a:gs>
                  <a:gs pos="100000">
                    <a:srgbClr val="FB88E7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95117" cy="28525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53388" y="1330690"/>
            <a:ext cx="4105912" cy="6803534"/>
            <a:chOff x="0" y="0"/>
            <a:chExt cx="636113" cy="105404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6113" cy="1054046"/>
            </a:xfrm>
            <a:custGeom>
              <a:avLst/>
              <a:gdLst/>
              <a:ahLst/>
              <a:cxnLst/>
              <a:rect l="l" t="t" r="r" b="b"/>
              <a:pathLst>
                <a:path w="636113" h="1054046">
                  <a:moveTo>
                    <a:pt x="188555" y="0"/>
                  </a:moveTo>
                  <a:lnTo>
                    <a:pt x="447558" y="0"/>
                  </a:lnTo>
                  <a:cubicBezTo>
                    <a:pt x="497566" y="0"/>
                    <a:pt x="545526" y="19866"/>
                    <a:pt x="580887" y="55227"/>
                  </a:cubicBezTo>
                  <a:cubicBezTo>
                    <a:pt x="616248" y="90588"/>
                    <a:pt x="636113" y="138547"/>
                    <a:pt x="636113" y="188555"/>
                  </a:cubicBezTo>
                  <a:lnTo>
                    <a:pt x="636113" y="865490"/>
                  </a:lnTo>
                  <a:cubicBezTo>
                    <a:pt x="636113" y="915498"/>
                    <a:pt x="616248" y="963458"/>
                    <a:pt x="580887" y="998819"/>
                  </a:cubicBezTo>
                  <a:cubicBezTo>
                    <a:pt x="545526" y="1034180"/>
                    <a:pt x="497566" y="1054046"/>
                    <a:pt x="447558" y="1054046"/>
                  </a:cubicBezTo>
                  <a:lnTo>
                    <a:pt x="188555" y="1054046"/>
                  </a:lnTo>
                  <a:cubicBezTo>
                    <a:pt x="138547" y="1054046"/>
                    <a:pt x="90588" y="1034180"/>
                    <a:pt x="55227" y="998819"/>
                  </a:cubicBezTo>
                  <a:cubicBezTo>
                    <a:pt x="19866" y="963458"/>
                    <a:pt x="0" y="915498"/>
                    <a:pt x="0" y="865490"/>
                  </a:cubicBezTo>
                  <a:lnTo>
                    <a:pt x="0" y="188555"/>
                  </a:lnTo>
                  <a:cubicBezTo>
                    <a:pt x="0" y="138547"/>
                    <a:pt x="19866" y="90588"/>
                    <a:pt x="55227" y="55227"/>
                  </a:cubicBezTo>
                  <a:cubicBezTo>
                    <a:pt x="90588" y="19866"/>
                    <a:pt x="138547" y="0"/>
                    <a:pt x="188555" y="0"/>
                  </a:cubicBezTo>
                  <a:close/>
                </a:path>
              </a:pathLst>
            </a:custGeom>
            <a:blipFill>
              <a:blip r:embed="rId2"/>
              <a:stretch>
                <a:fillRect l="-5233" r="-5233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7" name="Group 7"/>
          <p:cNvGrpSpPr/>
          <p:nvPr/>
        </p:nvGrpSpPr>
        <p:grpSpPr>
          <a:xfrm rot="-5400000">
            <a:off x="12904698" y="3779622"/>
            <a:ext cx="4364918" cy="4344286"/>
            <a:chOff x="0" y="0"/>
            <a:chExt cx="1149608" cy="114417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49608" cy="1144174"/>
            </a:xfrm>
            <a:custGeom>
              <a:avLst/>
              <a:gdLst/>
              <a:ahLst/>
              <a:cxnLst/>
              <a:rect l="l" t="t" r="r" b="b"/>
              <a:pathLst>
                <a:path w="1149608" h="1144174">
                  <a:moveTo>
                    <a:pt x="0" y="0"/>
                  </a:moveTo>
                  <a:lnTo>
                    <a:pt x="1149608" y="0"/>
                  </a:lnTo>
                  <a:lnTo>
                    <a:pt x="1149608" y="1144174"/>
                  </a:lnTo>
                  <a:lnTo>
                    <a:pt x="0" y="1144174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149608" cy="1201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4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76849" y="3769306"/>
            <a:ext cx="4105912" cy="7000921"/>
            <a:chOff x="0" y="0"/>
            <a:chExt cx="636113" cy="108462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6113" cy="1084626"/>
            </a:xfrm>
            <a:custGeom>
              <a:avLst/>
              <a:gdLst/>
              <a:ahLst/>
              <a:cxnLst/>
              <a:rect l="l" t="t" r="r" b="b"/>
              <a:pathLst>
                <a:path w="636113" h="1084626">
                  <a:moveTo>
                    <a:pt x="188555" y="0"/>
                  </a:moveTo>
                  <a:lnTo>
                    <a:pt x="447558" y="0"/>
                  </a:lnTo>
                  <a:cubicBezTo>
                    <a:pt x="497566" y="0"/>
                    <a:pt x="545526" y="19866"/>
                    <a:pt x="580887" y="55227"/>
                  </a:cubicBezTo>
                  <a:cubicBezTo>
                    <a:pt x="616248" y="90588"/>
                    <a:pt x="636113" y="138547"/>
                    <a:pt x="636113" y="188555"/>
                  </a:cubicBezTo>
                  <a:lnTo>
                    <a:pt x="636113" y="896070"/>
                  </a:lnTo>
                  <a:cubicBezTo>
                    <a:pt x="636113" y="946078"/>
                    <a:pt x="616248" y="994038"/>
                    <a:pt x="580887" y="1029399"/>
                  </a:cubicBezTo>
                  <a:cubicBezTo>
                    <a:pt x="545526" y="1064760"/>
                    <a:pt x="497566" y="1084626"/>
                    <a:pt x="447558" y="1084626"/>
                  </a:cubicBezTo>
                  <a:lnTo>
                    <a:pt x="188555" y="1084626"/>
                  </a:lnTo>
                  <a:cubicBezTo>
                    <a:pt x="138547" y="1084626"/>
                    <a:pt x="90588" y="1064760"/>
                    <a:pt x="55227" y="1029399"/>
                  </a:cubicBezTo>
                  <a:cubicBezTo>
                    <a:pt x="19866" y="994038"/>
                    <a:pt x="0" y="946078"/>
                    <a:pt x="0" y="896070"/>
                  </a:cubicBezTo>
                  <a:lnTo>
                    <a:pt x="0" y="188555"/>
                  </a:lnTo>
                  <a:cubicBezTo>
                    <a:pt x="0" y="138547"/>
                    <a:pt x="19866" y="90588"/>
                    <a:pt x="55227" y="55227"/>
                  </a:cubicBezTo>
                  <a:cubicBezTo>
                    <a:pt x="90588" y="19866"/>
                    <a:pt x="138547" y="0"/>
                    <a:pt x="188555" y="0"/>
                  </a:cubicBezTo>
                  <a:close/>
                </a:path>
              </a:pathLst>
            </a:custGeom>
            <a:blipFill>
              <a:blip r:embed="rId3"/>
              <a:stretch>
                <a:fillRect l="-77765" r="-77765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1247346" y="6302429"/>
            <a:ext cx="4364918" cy="4105912"/>
            <a:chOff x="0" y="0"/>
            <a:chExt cx="1149608" cy="10813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9608" cy="1081392"/>
            </a:xfrm>
            <a:custGeom>
              <a:avLst/>
              <a:gdLst/>
              <a:ahLst/>
              <a:cxnLst/>
              <a:rect l="l" t="t" r="r" b="b"/>
              <a:pathLst>
                <a:path w="1149608" h="1081392">
                  <a:moveTo>
                    <a:pt x="0" y="0"/>
                  </a:moveTo>
                  <a:lnTo>
                    <a:pt x="1149608" y="0"/>
                  </a:lnTo>
                  <a:lnTo>
                    <a:pt x="1149608" y="1081392"/>
                  </a:lnTo>
                  <a:lnTo>
                    <a:pt x="0" y="108139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149608" cy="1138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5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639137" y="3084721"/>
            <a:ext cx="9009726" cy="2579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50"/>
              </a:lnSpc>
            </a:pPr>
            <a:r>
              <a:rPr lang="en-US" sz="22563" b="1">
                <a:gradFill>
                  <a:gsLst>
                    <a:gs pos="0">
                      <a:srgbClr val="70329A">
                        <a:alpha val="100000"/>
                      </a:srgbClr>
                    </a:gs>
                    <a:gs pos="100000">
                      <a:srgbClr val="FB88E7">
                        <a:alpha val="100000"/>
                      </a:srgbClr>
                    </a:gs>
                  </a:gsLst>
                  <a:lin ang="2700000"/>
                </a:gradFill>
                <a:latin typeface="Inter Bold"/>
                <a:ea typeface="Inter Bold"/>
                <a:cs typeface="Inter Bold"/>
                <a:sym typeface="Inter Bold"/>
              </a:rPr>
              <a:t>Thank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87759" y="4721163"/>
            <a:ext cx="6559939" cy="352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6"/>
              </a:lnSpc>
              <a:spcBef>
                <a:spcPct val="0"/>
              </a:spcBef>
            </a:pPr>
            <a:r>
              <a:rPr lang="en-US" sz="20575" i="1" spc="-843">
                <a:gradFill>
                  <a:gsLst>
                    <a:gs pos="0">
                      <a:srgbClr val="70329A">
                        <a:alpha val="100000"/>
                      </a:srgbClr>
                    </a:gs>
                    <a:gs pos="100000">
                      <a:srgbClr val="FB88E7">
                        <a:alpha val="100000"/>
                      </a:srgbClr>
                    </a:gs>
                  </a:gsLst>
                  <a:lin ang="2700000"/>
                </a:gradFill>
                <a:latin typeface="Canva Sans Italics"/>
                <a:ea typeface="Canva Sans Italics"/>
                <a:cs typeface="Canva Sans Italics"/>
                <a:sym typeface="Canva Sans Italics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331</Words>
  <Application>Microsoft Office PowerPoint</Application>
  <PresentationFormat>Custom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Inter Bold</vt:lpstr>
      <vt:lpstr>Inter Medium</vt:lpstr>
      <vt:lpstr>Canva Sans</vt:lpstr>
      <vt:lpstr>Inter Semi-Bold</vt:lpstr>
      <vt:lpstr>Calibri</vt:lpstr>
      <vt:lpstr>Canva Sans Italics</vt:lpstr>
      <vt:lpstr>Arial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ByteCloud Slides</dc:title>
  <cp:lastModifiedBy>myra yunus</cp:lastModifiedBy>
  <cp:revision>2</cp:revision>
  <dcterms:created xsi:type="dcterms:W3CDTF">2006-08-16T00:00:00Z</dcterms:created>
  <dcterms:modified xsi:type="dcterms:W3CDTF">2026-10-17T14:59:59Z</dcterms:modified>
  <dc:identifier>DAHYJ98i4lU</dc:identifier>
</cp:coreProperties>
</file>