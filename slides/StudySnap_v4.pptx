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610000" y="360000"/>
            <a:ext cx="10970000" cy="9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4000" b="1" dirty="0">
                <a:solidFill>
                  <a:srgbClr val="7C5CFF"/>
                </a:solidFill>
                <a:latin typeface="Segoe UI"/>
              </a:rPr>
              <a:t>StudySnap - from overwhelmed to exam-ready</a:t>
            </a:r>
          </a:p>
        </p:txBody>
      </p:sp>
      <p:sp>
        <p:nvSpPr>
          <p:cNvPr id="3" name="tb3"/>
          <p:cNvSpPr txBox="1"/>
          <p:nvPr/>
        </p:nvSpPr>
        <p:spPr>
          <a:xfrm>
            <a:off x="610000" y="1180000"/>
            <a:ext cx="10970000" cy="52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000" b="0" dirty="0">
                <a:solidFill>
                  <a:srgbClr val="6B6480"/>
                </a:solidFill>
                <a:latin typeface="Segoe UI"/>
              </a:rPr>
              <a:t>Turn any lecture notes into a full, personalised study session in under a minute.</a:t>
            </a:r>
          </a:p>
        </p:txBody>
      </p:sp>
      <p:sp>
        <p:nvSpPr>
          <p:cNvPr id="4" name="tb4"/>
          <p:cNvSpPr txBox="1"/>
          <p:nvPr/>
        </p:nvSpPr>
        <p:spPr>
          <a:xfrm>
            <a:off x="610000" y="1950000"/>
            <a:ext cx="5400000" cy="34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200" b="1" dirty="0">
                <a:solidFill>
                  <a:srgbClr val="FF6FB5"/>
                </a:solidFill>
                <a:latin typeface="Segoe UI"/>
              </a:rPr>
              <a:t>The problem</a:t>
            </a:r>
          </a:p>
          <a:p>
            <a:pPr marL="285750" indent="-285750">
              <a:buChar char="•"/>
            </a:pPr>
            <a:r>
              <a:rPr lang="en-US" sz="1800" b="0" dirty="0">
                <a:solidFill>
                  <a:srgbClr val="2B2240"/>
                </a:solidFill>
                <a:latin typeface="Segoe UI"/>
              </a:rPr>
              <a:t>Meet Aisha, a 2nd-year UM student: 14 weeks of slides, hundreds of pages, before finals.</a:t>
            </a:r>
          </a:p>
          <a:p>
            <a:pPr marL="285750" indent="-285750">
              <a:buChar char="•"/>
            </a:pPr>
            <a:r>
              <a:rPr lang="en-US" sz="1800" b="0" dirty="0">
                <a:solidFill>
                  <a:srgbClr val="2B2240"/>
                </a:solidFill>
                <a:latin typeface="Segoe UI"/>
              </a:rPr>
              <a:t>Her first study hour goes to figuring out what matters - not learning.</a:t>
            </a:r>
          </a:p>
          <a:p>
            <a:pPr marL="285750" indent="-285750">
              <a:buChar char="•"/>
            </a:pPr>
            <a:r>
              <a:rPr lang="en-US" sz="1800" b="0" dirty="0">
                <a:solidFill>
                  <a:srgbClr val="2B2240"/>
                </a:solidFill>
                <a:latin typeface="Segoe UI"/>
              </a:rPr>
              <a:t>No easy way to test herself.</a:t>
            </a:r>
          </a:p>
        </p:txBody>
      </p:sp>
      <p:sp>
        <p:nvSpPr>
          <p:cNvPr id="5" name="tb5"/>
          <p:cNvSpPr txBox="1"/>
          <p:nvPr/>
        </p:nvSpPr>
        <p:spPr>
          <a:xfrm>
            <a:off x="6300000" y="1950000"/>
            <a:ext cx="5280000" cy="2100000"/>
          </a:xfrm>
          <a:prstGeom prst="rect">
            <a:avLst/>
          </a:prstGeom>
          <a:solidFill>
            <a:srgbClr val="FFF1F7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200" b="1" dirty="0">
                <a:solidFill>
                  <a:srgbClr val="7C5CFF"/>
                </a:solidFill>
                <a:latin typeface="Segoe UI"/>
              </a:rPr>
              <a:t>The evidence</a:t>
            </a:r>
          </a:p>
          <a:p>
            <a:pPr>
              <a:buNone/>
            </a:pPr>
            <a:r>
              <a:rPr lang="en-US" sz="1800" b="0" dirty="0">
                <a:solidFill>
                  <a:srgbClr val="2B2240"/>
                </a:solidFill>
                <a:latin typeface="Segoe UI"/>
              </a:rPr>
              <a:t>In our poll of 20 classmates, 16 (80%) named “not knowing where to start” their biggest study struggle - the top answer, above procrastination (15%) and staying focused (5%).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610000" y="5700000"/>
            <a:ext cx="10970000" cy="5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600" b="1" dirty="0">
                <a:solidFill>
                  <a:srgbClr val="30C7B5"/>
                </a:solidFill>
                <a:latin typeface="Segoe UI"/>
              </a:rPr>
              <a:t>Real students - real problem - one upload away from a fix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610000" y="320000"/>
            <a:ext cx="10970000" cy="76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3600" b="1" dirty="0">
                <a:solidFill>
                  <a:srgbClr val="7C5CFF"/>
                </a:solidFill>
                <a:latin typeface="Segoe UI"/>
              </a:rPr>
              <a:t>Why it needs AI - and how it runs on AWS</a:t>
            </a:r>
          </a:p>
        </p:txBody>
      </p:sp>
      <p:sp>
        <p:nvSpPr>
          <p:cNvPr id="3" name="tb3"/>
          <p:cNvSpPr txBox="1"/>
          <p:nvPr/>
        </p:nvSpPr>
        <p:spPr>
          <a:xfrm>
            <a:off x="610000" y="1250000"/>
            <a:ext cx="5400000" cy="42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000" b="1" dirty="0">
                <a:solidFill>
                  <a:srgbClr val="FF6FB5"/>
                </a:solidFill>
                <a:latin typeface="Segoe UI"/>
              </a:rPr>
              <a:t>Why AI (not a search or template)</a:t>
            </a:r>
          </a:p>
          <a:p>
            <a:pPr marL="285750" indent="-285750">
              <a:buChar char="•"/>
            </a:pPr>
            <a:r>
              <a:rPr lang="en-US" sz="1600" b="0" dirty="0">
                <a:solidFill>
                  <a:srgbClr val="2B2240"/>
                </a:solidFill>
                <a:latin typeface="Segoe UI"/>
              </a:rPr>
              <a:t>Every student's notes are different - only a language model can read YOUR notes and decide what matters.</a:t>
            </a:r>
          </a:p>
          <a:p>
            <a:pPr marL="285750" indent="-285750">
              <a:buChar char="•"/>
            </a:pPr>
            <a:r>
              <a:rPr lang="en-US" sz="1600" b="0" dirty="0">
                <a:solidFill>
                  <a:srgbClr val="2B2240"/>
                </a:solidFill>
                <a:latin typeface="Segoe UI"/>
              </a:rPr>
              <a:t>Today students juggle ChatGPT, Quizlet and highlighters.</a:t>
            </a:r>
          </a:p>
          <a:p>
            <a:pPr marL="285750" indent="-285750">
              <a:buChar char="•"/>
            </a:pPr>
            <a:r>
              <a:rPr lang="en-US" sz="1600" b="0" dirty="0">
                <a:solidFill>
                  <a:srgbClr val="2B2240"/>
                </a:solidFill>
                <a:latin typeface="Segoe UI"/>
              </a:rPr>
              <a:t>StudySnap does what they can't: one upload gives a summary, flashcards, glossary, examples, difficulty tags, a quiz AND a tutor chat - all from your material.</a:t>
            </a:r>
          </a:p>
        </p:txBody>
      </p:sp>
      <p:sp>
        <p:nvSpPr>
          <p:cNvPr id="4" name="tb4"/>
          <p:cNvSpPr txBox="1"/>
          <p:nvPr/>
        </p:nvSpPr>
        <p:spPr>
          <a:xfrm>
            <a:off x="6300000" y="1250000"/>
            <a:ext cx="5280000" cy="15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000" b="1" dirty="0">
                <a:solidFill>
                  <a:srgbClr val="2B8CFF"/>
                </a:solidFill>
                <a:latin typeface="Segoe UI"/>
              </a:rPr>
              <a:t>Built on AWS</a:t>
            </a:r>
          </a:p>
          <a:p>
            <a:pPr>
              <a:buNone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Browser  -&gt;  API Gateway  -&gt;  7 Lambda functions  -&gt;  Amazon Bedrock</a:t>
            </a:r>
          </a:p>
          <a:p>
            <a:pPr>
              <a:buNone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S3 hosts the website.</a:t>
            </a:r>
          </a:p>
        </p:txBody>
      </p:sp>
      <p:sp>
        <p:nvSpPr>
          <p:cNvPr id="5" name="tb5"/>
          <p:cNvSpPr txBox="1"/>
          <p:nvPr/>
        </p:nvSpPr>
        <p:spPr>
          <a:xfrm>
            <a:off x="6300000" y="2850000"/>
            <a:ext cx="5280000" cy="2050000"/>
          </a:xfrm>
          <a:prstGeom prst="rect">
            <a:avLst/>
          </a:prstGeom>
          <a:solidFill>
            <a:srgbClr val="FF9F1C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700" b="1" dirty="0">
                <a:solidFill>
                  <a:srgbClr val="FFFFFF"/>
                </a:solidFill>
                <a:latin typeface="Segoe UI"/>
              </a:rPr>
              <a:t>Amazon Bedrock - Claude Haiku 4.5 (the core)</a:t>
            </a:r>
          </a:p>
          <a:p>
            <a:pPr>
              <a:buNone/>
            </a:pPr>
            <a:r>
              <a:rPr lang="en-US" sz="1400" b="0" dirty="0">
                <a:solidFill>
                  <a:srgbClr val="FFFFFF"/>
                </a:solidFill>
                <a:latin typeface="Segoe UI"/>
              </a:rPr>
              <a:t>Reads the document and generates every output.</a:t>
            </a:r>
          </a:p>
          <a:p>
            <a:pPr>
              <a:buNone/>
            </a:pPr>
            <a:r>
              <a:rPr lang="en-US" sz="1400" b="0" dirty="0">
                <a:solidFill>
                  <a:srgbClr val="FFFFFF"/>
                </a:solidFill>
                <a:latin typeface="Segoe UI"/>
              </a:rPr>
              <a:t>Why this model: fast + low-cost (a full pack in seconds); reads PDFs and images natively.</a:t>
            </a:r>
          </a:p>
          <a:p>
            <a:pPr>
              <a:buNone/>
            </a:pPr>
            <a:r>
              <a:rPr lang="en-US" sz="1400" b="0" dirty="0">
                <a:solidFill>
                  <a:srgbClr val="FFFFFF"/>
                </a:solidFill>
                <a:latin typeface="Segoe UI"/>
              </a:rPr>
              <a:t>Kept accurate: the model sees ONLY the student's notes, each prompt locked to one task - so it summarises, never invents.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6300000" y="5000000"/>
            <a:ext cx="5280000" cy="70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300" b="0" dirty="0">
                <a:solidFill>
                  <a:srgbClr val="6B6480"/>
                </a:solidFill>
                <a:latin typeface="Segoe UI"/>
              </a:rPr>
              <a:t>Bedrock = the AI brain  -  Lambda x7 = logic  -  API Gateway = routing + API key  -  S3 = hosting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2"/>
          <p:cNvSpPr txBox="1"/>
          <p:nvPr/>
        </p:nvSpPr>
        <p:spPr>
          <a:xfrm>
            <a:off x="610000" y="320000"/>
            <a:ext cx="10970000" cy="760000"/>
          </a:xfrm>
          <a:prstGeom prst="rect">
            <a:avLst/>
          </a:prstGeom>
          <a:noFill/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3600" b="1" dirty="0">
                <a:solidFill>
                  <a:srgbClr val="7C5CFF"/>
                </a:solidFill>
                <a:latin typeface="Segoe UI"/>
              </a:rPr>
              <a:t>Real impact, ready to grow</a:t>
            </a:r>
          </a:p>
        </p:txBody>
      </p:sp>
      <p:sp>
        <p:nvSpPr>
          <p:cNvPr id="3" name="tb3"/>
          <p:cNvSpPr txBox="1"/>
          <p:nvPr/>
        </p:nvSpPr>
        <p:spPr>
          <a:xfrm>
            <a:off x="460000" y="1250000"/>
            <a:ext cx="3680000" cy="3400000"/>
          </a:xfrm>
          <a:prstGeom prst="rect">
            <a:avLst/>
          </a:prstGeom>
          <a:solidFill>
            <a:srgbClr val="FFF1F7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900" b="1" dirty="0">
                <a:solidFill>
                  <a:srgbClr val="FF6FB5"/>
                </a:solidFill>
                <a:latin typeface="Segoe UI"/>
              </a:rPr>
              <a:t>Impact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Full study pack in ~40 seconds.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The hour spent organising -&gt; now spent learning.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~12-15 hours saved per student over a 14-week semester.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Enters the exam having actually self-tested.</a:t>
            </a:r>
          </a:p>
        </p:txBody>
      </p:sp>
      <p:sp>
        <p:nvSpPr>
          <p:cNvPr id="4" name="tb4"/>
          <p:cNvSpPr txBox="1"/>
          <p:nvPr/>
        </p:nvSpPr>
        <p:spPr>
          <a:xfrm>
            <a:off x="4260000" y="1250000"/>
            <a:ext cx="3680000" cy="3400000"/>
          </a:xfrm>
          <a:prstGeom prst="rect">
            <a:avLst/>
          </a:prstGeom>
          <a:solidFill>
            <a:srgbClr val="EAFBFF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900" b="1" dirty="0">
                <a:solidFill>
                  <a:srgbClr val="30C7B5"/>
                </a:solidFill>
                <a:latin typeface="Segoe UI"/>
              </a:rPr>
              <a:t>Who pilots it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Works end to end today (you just saw it).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First pilot: UM's Academic Enhancement and Leadership Development Centre (ADeC) - the unit that rolls out learning tools campus-wide.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Fits how they already work: they hand out revision material - now they point to StudySnap.</a:t>
            </a:r>
          </a:p>
        </p:txBody>
      </p:sp>
      <p:sp>
        <p:nvSpPr>
          <p:cNvPr id="5" name="tb5"/>
          <p:cNvSpPr txBox="1"/>
          <p:nvPr/>
        </p:nvSpPr>
        <p:spPr>
          <a:xfrm>
            <a:off x="8060000" y="1250000"/>
            <a:ext cx="3680000" cy="3400000"/>
          </a:xfrm>
          <a:prstGeom prst="rect">
            <a:avLst/>
          </a:prstGeom>
          <a:solidFill>
            <a:srgbClr val="EEF1FF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1900" b="1" dirty="0">
                <a:solidFill>
                  <a:srgbClr val="2B8CFF"/>
                </a:solidFill>
                <a:latin typeface="Segoe UI"/>
              </a:rPr>
              <a:t>How it grows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Any course with notes: medicine, law, schools, corporate training.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Serverless = pay per request.</a:t>
            </a:r>
          </a:p>
          <a:p>
            <a:pPr marL="285750" indent="-285750">
              <a:buChar char="•"/>
            </a:pPr>
            <a:r>
              <a:rPr lang="en-US" sz="1500" b="0" dirty="0">
                <a:solidFill>
                  <a:srgbClr val="2B2240"/>
                </a:solidFill>
                <a:latin typeface="Segoe UI"/>
              </a:rPr>
              <a:t>~25-30 sen per study pack -&gt; a class of 40 costs RM 10-12; pay only when it is used.</a:t>
            </a:r>
          </a:p>
        </p:txBody>
      </p:sp>
      <p:sp>
        <p:nvSpPr>
          <p:cNvPr id="6" name="tb6"/>
          <p:cNvSpPr txBox="1"/>
          <p:nvPr/>
        </p:nvSpPr>
        <p:spPr>
          <a:xfrm>
            <a:off x="460000" y="5050000"/>
            <a:ext cx="11280000" cy="1350000"/>
          </a:xfrm>
          <a:prstGeom prst="rect">
            <a:avLst/>
          </a:prstGeom>
          <a:solidFill>
            <a:srgbClr val="7C5CFF"/>
          </a:solidFill>
        </p:spPr>
        <p:txBody>
          <a:bodyPr wrap="square" lIns="91440" tIns="54000" rIns="91440" bIns="54000" anchor="t"/>
          <a:lstStyle/>
          <a:p>
            <a:pPr>
              <a:buNone/>
            </a:pPr>
            <a:r>
              <a:rPr lang="en-US" sz="2200" b="1" dirty="0">
                <a:solidFill>
                  <a:srgbClr val="FFFFFF"/>
                </a:solidFill>
                <a:latin typeface="Segoe UI"/>
              </a:rPr>
              <a:t>Lecture notes in. A full study session out. Under a minute.</a:t>
            </a:r>
          </a:p>
          <a:p>
            <a:pPr>
              <a:buNone/>
            </a:pPr>
            <a:r>
              <a:rPr lang="en-US" sz="1800" b="1" dirty="0">
                <a:solidFill>
                  <a:srgbClr val="FFFFFF"/>
                </a:solidFill>
                <a:latin typeface="Segoe UI"/>
              </a:rPr>
              <a:t>StudySnap - from overwhelmed to exam-ready, one upload at a time.</a:t>
            </a:r>
          </a:p>
        </p:txBody>
      </p:sp>
    </p:spTree>
  </p:cSld>
</p:sld>
</file>

<file path=ppt/theme/theme1.xml><?xml version="1.0" encoding="utf-8"?>
<a:theme xmlns:a="http://schemas.openxmlformats.org/drawingml/2006/main" name="StudySnap">
  <a:themeElements>
    <a:clrScheme name="StudySnap">
      <a:dk1>
        <a:sysClr val="windowText" lastClr="000000"/>
      </a:dk1>
      <a:lt1>
        <a:sysClr val="window" lastClr="FFFFFF"/>
      </a:lt1>
      <a:dk2>
        <a:srgbClr val="2B2240"/>
      </a:dk2>
      <a:lt2>
        <a:srgbClr val="FFF7EF"/>
      </a:lt2>
      <a:accent1>
        <a:srgbClr val="FF6FB5"/>
      </a:accent1>
      <a:accent2>
        <a:srgbClr val="7C5CFF"/>
      </a:accent2>
      <a:accent3>
        <a:srgbClr val="30C7B5"/>
      </a:accent3>
      <a:accent4>
        <a:srgbClr val="FF9F1C"/>
      </a:accent4>
      <a:accent5>
        <a:srgbClr val="2B8CFF"/>
      </a:accent5>
      <a:accent6>
        <a:srgbClr val="6B6480"/>
      </a:accent6>
      <a:hlink>
        <a:srgbClr val="7C5CFF"/>
      </a:hlink>
      <a:folHlink>
        <a:srgbClr val="FF6FB5"/>
      </a:folHlink>
    </a:clrScheme>
    <a:fontScheme name="StudySnap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StudySna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StudySnap - AWS CendekiAwan 2.0</dc:title>
  <dc:creator>StudySnap Team</dc:creator>
</cp:coreProperties>
</file>